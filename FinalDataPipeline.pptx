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85" r:id="rId4"/>
    <p:sldId id="286" r:id="rId5"/>
    <p:sldId id="292" r:id="rId6"/>
    <p:sldId id="291" r:id="rId7"/>
    <p:sldId id="2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99" d="100"/>
          <a:sy n="99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3A7F-BE5C-1CFF-C19E-5DBAEF212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1D7BE-D1D9-74F6-B08B-5CD545B56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154FA-1931-220C-6E36-76F8BF87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2B61-3F05-0131-503C-CEABFC89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4708A-3180-23F9-595A-FFB20E64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36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B46A-8D31-BEAA-B53F-001E5B365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66859-F8C7-57B3-AEAC-1BBC8D61B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0B55E-FC4D-94A2-701E-85921C3F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6D112-F15F-599D-894D-3C8BE4B2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087C4-1970-8054-E445-814BF0D8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7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4ED2F-B8BE-E8C1-9844-53DA8155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C4C83-6375-3204-FC54-CB4E47236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87E42-C752-2C48-DD0E-079B3A900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C5B24-A814-313F-8CDF-79217843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C033A-46B2-4914-F511-D8AA9EBC5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8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C526-7D78-1D90-8FF0-A379B329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DC1E6-F9B8-B2CC-74C6-E4009E96A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A8A99-CA7C-86BE-C0FC-6F07B6675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D924E-F049-FF6D-E426-12887F6EC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039D5-8FAC-5287-811B-01B23A16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CBF70-C1AD-EE74-0611-C05A2BB4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85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B2C7-3628-59C7-814A-A88D3224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EEF4D-CA7B-96A9-387F-59F373E27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8E09D-7F5F-BEB4-9887-66A1E0811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15E8B-CA64-5E43-8AFD-A4E333A69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00881-418F-C206-A33C-2CF8965D1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F6638-D399-33DE-EC41-276441A81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03303-5C95-56CE-C990-B93242D6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6D797-65BD-F6E0-E944-85E2A744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49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B4A58-A0DE-3D0A-F800-1B7D7C4E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85F14-04D3-D4FD-88EA-BC58015A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3A3ED-7B42-4839-B54A-3DABA2AB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ACF3B-56BB-5E5E-500D-9662DB94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6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BC33B-36B6-23F2-05FB-C568A66CD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01436-28FE-94A7-362B-E59B0652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7CE46-52F6-30CC-06A4-F9D03452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18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94A65-E22A-29B7-4200-777218D5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637F9-CF4D-FC57-E1C9-B989428E9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25BA2-F2AF-34AD-DEA1-8A44C28CB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2AFC4-CBE0-041F-D75B-783D45534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E76FF-F837-CC27-F6CE-BF08BEC2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FDFFE-85DB-F698-3B3F-AD06C6A8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5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795B-E829-1B16-3573-64F56AFBB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00F33-4318-4B7D-47B3-0E44B5D651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82F10-59A1-89AD-2FD9-EBB7A6F87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A735B-DADE-EE0B-B3CA-DB4142CBA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41BC8-7E14-C368-F1DA-6148D3519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A7B92-1571-E79D-989D-D0E096C2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4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09AE-BC88-20DC-50E0-3EDF8C2C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7BC5C-D4E8-32EA-6849-E0F854A45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7E60B-74C3-4757-94B2-B9706F47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60274-3B47-6BAA-F7D4-9BE85303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D854B-7709-754C-66EE-11DE16B3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0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4F054-FC85-A1A6-B49D-89AED8594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9711D-A68C-2E5E-890F-AAD274CDB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1B7F7-5F91-E73B-041E-620EB2FF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CE3F3-3C34-F95D-2645-8590B5C4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1D56B-E8E9-99DA-1837-C08C2E7C3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64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3A7F-BE5C-1CFF-C19E-5DBAEF212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1D7BE-D1D9-74F6-B08B-5CD545B56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154FA-1931-220C-6E36-76F8BF87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2B61-3F05-0131-503C-CEABFC89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4708A-3180-23F9-595A-FFB20E64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36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B46A-8D31-BEAA-B53F-001E5B365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66859-F8C7-57B3-AEAC-1BBC8D61B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0B55E-FC4D-94A2-701E-85921C3F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6D112-F15F-599D-894D-3C8BE4B2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087C4-1970-8054-E445-814BF0D8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73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4ED2F-B8BE-E8C1-9844-53DA8155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C4C83-6375-3204-FC54-CB4E47236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87E42-C752-2C48-DD0E-079B3A900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C5B24-A814-313F-8CDF-79217843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C033A-46B2-4914-F511-D8AA9EBC5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81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C526-7D78-1D90-8FF0-A379B329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DC1E6-F9B8-B2CC-74C6-E4009E96A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A8A99-CA7C-86BE-C0FC-6F07B6675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D924E-F049-FF6D-E426-12887F6EC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039D5-8FAC-5287-811B-01B23A16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CBF70-C1AD-EE74-0611-C05A2BB4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8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B2C7-3628-59C7-814A-A88D3224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EEF4D-CA7B-96A9-387F-59F373E27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8E09D-7F5F-BEB4-9887-66A1E0811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15E8B-CA64-5E43-8AFD-A4E333A69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00881-418F-C206-A33C-2CF8965D1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F6638-D399-33DE-EC41-276441A81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03303-5C95-56CE-C990-B93242D6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6D797-65BD-F6E0-E944-85E2A744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49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B4A58-A0DE-3D0A-F800-1B7D7C4E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85F14-04D3-D4FD-88EA-BC58015A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3A3ED-7B42-4839-B54A-3DABA2AB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ACF3B-56BB-5E5E-500D-9662DB94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66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BC33B-36B6-23F2-05FB-C568A66CD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01436-28FE-94A7-362B-E59B0652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7CE46-52F6-30CC-06A4-F9D03452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18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94A65-E22A-29B7-4200-777218D5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637F9-CF4D-FC57-E1C9-B989428E9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25BA2-F2AF-34AD-DEA1-8A44C28CB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2AFC4-CBE0-041F-D75B-783D45534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E76FF-F837-CC27-F6CE-BF08BEC2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FDFFE-85DB-F698-3B3F-AD06C6A8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56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795B-E829-1B16-3573-64F56AFBB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00F33-4318-4B7D-47B3-0E44B5D651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82F10-59A1-89AD-2FD9-EBB7A6F87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A735B-DADE-EE0B-B3CA-DB4142CBA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41BC8-7E14-C368-F1DA-6148D3519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A7B92-1571-E79D-989D-D0E096C2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48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09AE-BC88-20DC-50E0-3EDF8C2C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7BC5C-D4E8-32EA-6849-E0F854A45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7E60B-74C3-4757-94B2-B9706F47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60274-3B47-6BAA-F7D4-9BE85303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D854B-7709-754C-66EE-11DE16B3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01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4F054-FC85-A1A6-B49D-89AED8594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9711D-A68C-2E5E-890F-AAD274CDB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1B7F7-5F91-E73B-041E-620EB2FF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CE3F3-3C34-F95D-2645-8590B5C4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1D56B-E8E9-99DA-1837-C08C2E7C3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64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82A3C-F941-3BB2-054B-62CB3AC7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C82CA-01A1-22FB-74CB-0F70D73B2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E0B82-C41A-38DE-EF52-E35C3A9E0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06686-9AF3-39D8-ED62-DC1BB0E64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B7B1B-DE45-F77F-6017-7538F1579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6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82A3C-F941-3BB2-054B-62CB3AC7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C82CA-01A1-22FB-74CB-0F70D73B2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E0B82-C41A-38DE-EF52-E35C3A9E0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355CE-D54D-AD4F-8F1C-C593D64F28E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06686-9AF3-39D8-ED62-DC1BB0E64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B7B1B-DE45-F77F-6017-7538F1579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3CFB4-4FD6-9D4D-9B19-A1E9097F5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6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5F63-0783-256B-8805-480C9D511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Pipeline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E060E-E303-D459-821F-E84439AC7D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BUJ International</a:t>
            </a:r>
          </a:p>
          <a:p>
            <a:r>
              <a:rPr lang="en-US" dirty="0"/>
              <a:t>Scott Person</a:t>
            </a:r>
          </a:p>
        </p:txBody>
      </p:sp>
    </p:spTree>
    <p:extLst>
      <p:ext uri="{BB962C8B-B14F-4D97-AF65-F5344CB8AC3E}">
        <p14:creationId xmlns:p14="http://schemas.microsoft.com/office/powerpoint/2010/main" val="112666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alBadge"/>
          <p:cNvSpPr/>
          <p:nvPr/>
        </p:nvSpPr>
        <p:spPr>
          <a:xfrm>
            <a:off x="609600" y="457200"/>
            <a:ext cx="1524000" cy="457200"/>
          </a:xfrm>
          <a:prstGeom prst="roundRect">
            <a:avLst>
              <a:gd name="adj" fmla="val 20000"/>
            </a:avLst>
          </a:prstGeom>
          <a:solidFill>
            <a:srgbClr val="1967D2"/>
          </a:solidFill>
          <a:ln w="0">
            <a:noFill/>
          </a:ln>
        </p:spPr>
        <p:txBody>
          <a:bodyPr wrap="square" lIns="72000" rIns="72000" anchor="ctr" anchorCtr="0"/>
          <a:lstStyle/>
          <a:p>
            <a:pPr algn="ctr">
              <a:buNone/>
            </a:pPr>
            <a:r>
              <a:rPr lang="en-US" sz="2000" b="1" spc="300" dirty="0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11" name="GoalText"/>
          <p:cNvSpPr/>
          <p:nvPr/>
        </p:nvSpPr>
        <p:spPr>
          <a:xfrm>
            <a:off x="609600" y="1143000"/>
            <a:ext cx="109728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ctr" anchorCtr="0"/>
          <a:lstStyle/>
          <a:p>
            <a:pPr algn="l">
              <a:buNone/>
            </a:pPr>
            <a:r>
              <a:rPr lang="en-US" sz="3200" dirty="0">
                <a:solidFill>
                  <a:srgbClr val="404040"/>
                </a:solidFill>
                <a:latin typeface="Calibri"/>
              </a:rPr>
              <a:t>Build a proof of concept for an</a:t>
            </a:r>
          </a:p>
          <a:p>
            <a:pPr algn="l">
              <a:buNone/>
            </a:pPr>
            <a:r>
              <a:rPr lang="en-US" sz="3200" b="1" dirty="0">
                <a:solidFill>
                  <a:srgbClr val="1967D2"/>
                </a:solidFill>
                <a:latin typeface="Calibri"/>
              </a:rPr>
              <a:t>analytical data store</a:t>
            </a:r>
            <a:r>
              <a:rPr lang="en-US" sz="3200" dirty="0">
                <a:solidFill>
                  <a:srgbClr val="404040"/>
                </a:solidFill>
                <a:latin typeface="Calibri"/>
              </a:rPr>
              <a:t> on </a:t>
            </a:r>
            <a:r>
              <a:rPr lang="en-US" sz="3200" b="1" dirty="0">
                <a:solidFill>
                  <a:srgbClr val="1967D2"/>
                </a:solidFill>
                <a:latin typeface="Calibri"/>
              </a:rPr>
              <a:t>BigQuery</a:t>
            </a:r>
          </a:p>
        </p:txBody>
      </p:sp>
      <p:sp>
        <p:nvSpPr>
          <p:cNvPr id="12" name="PoweredBy"/>
          <p:cNvSpPr/>
          <p:nvPr/>
        </p:nvSpPr>
        <p:spPr>
          <a:xfrm>
            <a:off x="609600" y="35560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anchor="t" anchorCtr="0"/>
          <a:lstStyle/>
          <a:p>
            <a:pPr algn="l">
              <a:buNone/>
            </a:pPr>
            <a:r>
              <a:rPr lang="en-US" sz="1800" dirty="0">
                <a:solidFill>
                  <a:srgbClr val="888888"/>
                </a:solidFill>
                <a:latin typeface="Calibri"/>
              </a:rPr>
              <a:t>Powered by</a:t>
            </a:r>
          </a:p>
        </p:txBody>
      </p:sp>
      <p:sp>
        <p:nvSpPr>
          <p:cNvPr id="20" name="Pill0"/>
          <p:cNvSpPr/>
          <p:nvPr/>
        </p:nvSpPr>
        <p:spPr>
          <a:xfrm>
            <a:off x="609600" y="4191000"/>
            <a:ext cx="3488267" cy="635000"/>
          </a:xfrm>
          <a:prstGeom prst="roundRect">
            <a:avLst>
              <a:gd name="adj" fmla="val 30000"/>
            </a:avLst>
          </a:prstGeom>
          <a:solidFill>
            <a:srgbClr val="D4582A">
              <a:alpha val="12000"/>
            </a:srgbClr>
          </a:solidFill>
          <a:ln w="12700">
            <a:solidFill>
              <a:srgbClr val="D4582A">
                <a:alpha val="40000"/>
              </a:srgbClr>
            </a:solidFill>
          </a:ln>
        </p:spPr>
        <p:txBody>
          <a:bodyPr wrap="square" lIns="180000" rIns="144000" anchor="ctr" anchorCtr="0"/>
          <a:lstStyle/>
          <a:p>
            <a:pPr algn="l">
              <a:buNone/>
            </a:pPr>
            <a:r>
              <a:rPr lang="en-US" sz="1800" b="1" dirty="0">
                <a:solidFill>
                  <a:srgbClr val="D4582A"/>
                </a:solidFill>
                <a:latin typeface="Calibri"/>
              </a:rPr>
              <a:t>Airbyte</a:t>
            </a:r>
            <a:r>
              <a:rPr lang="en-US" sz="1400" dirty="0">
                <a:solidFill>
                  <a:srgbClr val="D4582A">
                    <a:alpha val="70000"/>
                  </a:srgbClr>
                </a:solidFill>
                <a:latin typeface="Calibri"/>
              </a:rPr>
              <a:t>  Extract + Load</a:t>
            </a:r>
          </a:p>
        </p:txBody>
      </p:sp>
      <p:sp>
        <p:nvSpPr>
          <p:cNvPr id="21" name="Pill1"/>
          <p:cNvSpPr/>
          <p:nvPr/>
        </p:nvSpPr>
        <p:spPr>
          <a:xfrm>
            <a:off x="4351867" y="4191000"/>
            <a:ext cx="3488267" cy="635000"/>
          </a:xfrm>
          <a:prstGeom prst="roundRect">
            <a:avLst>
              <a:gd name="adj" fmla="val 30000"/>
            </a:avLst>
          </a:prstGeom>
          <a:solidFill>
            <a:srgbClr val="1967D2">
              <a:alpha val="12000"/>
            </a:srgbClr>
          </a:solidFill>
          <a:ln w="12700">
            <a:solidFill>
              <a:srgbClr val="1967D2">
                <a:alpha val="40000"/>
              </a:srgbClr>
            </a:solidFill>
          </a:ln>
        </p:spPr>
        <p:txBody>
          <a:bodyPr wrap="square" lIns="180000" rIns="144000" anchor="ctr" anchorCtr="0"/>
          <a:lstStyle/>
          <a:p>
            <a:pPr algn="l">
              <a:buNone/>
            </a:pPr>
            <a:r>
              <a:rPr lang="en-US" sz="1800" b="1" dirty="0">
                <a:solidFill>
                  <a:srgbClr val="1967D2"/>
                </a:solidFill>
                <a:latin typeface="Calibri"/>
              </a:rPr>
              <a:t>dbt</a:t>
            </a:r>
            <a:r>
              <a:rPr lang="en-US" sz="1400" dirty="0">
                <a:solidFill>
                  <a:srgbClr val="1967D2">
                    <a:alpha val="70000"/>
                  </a:srgbClr>
                </a:solidFill>
                <a:latin typeface="Calibri"/>
              </a:rPr>
              <a:t>  Transform</a:t>
            </a:r>
          </a:p>
        </p:txBody>
      </p:sp>
      <p:sp>
        <p:nvSpPr>
          <p:cNvPr id="22" name="Pill2"/>
          <p:cNvSpPr/>
          <p:nvPr/>
        </p:nvSpPr>
        <p:spPr>
          <a:xfrm>
            <a:off x="8094134" y="4191000"/>
            <a:ext cx="3488267" cy="635000"/>
          </a:xfrm>
          <a:prstGeom prst="roundRect">
            <a:avLst>
              <a:gd name="adj" fmla="val 30000"/>
            </a:avLst>
          </a:prstGeom>
          <a:solidFill>
            <a:srgbClr val="424752">
              <a:alpha val="12000"/>
            </a:srgbClr>
          </a:solidFill>
          <a:ln w="12700">
            <a:solidFill>
              <a:srgbClr val="424752">
                <a:alpha val="40000"/>
              </a:srgbClr>
            </a:solidFill>
          </a:ln>
        </p:spPr>
        <p:txBody>
          <a:bodyPr wrap="square" lIns="180000" rIns="144000" anchor="ctr" anchorCtr="0"/>
          <a:lstStyle/>
          <a:p>
            <a:pPr algn="l">
              <a:buNone/>
            </a:pPr>
            <a:r>
              <a:rPr lang="en-US" sz="1800" b="1" dirty="0">
                <a:solidFill>
                  <a:srgbClr val="424752"/>
                </a:solidFill>
                <a:latin typeface="Calibri"/>
              </a:rPr>
              <a:t>Dagster</a:t>
            </a:r>
            <a:r>
              <a:rPr lang="en-US" sz="1400" dirty="0">
                <a:solidFill>
                  <a:srgbClr val="424752">
                    <a:alpha val="70000"/>
                  </a:srgbClr>
                </a:solidFill>
                <a:latin typeface="Calibri"/>
              </a:rPr>
              <a:t>  Orchestrate</a:t>
            </a:r>
          </a:p>
        </p:txBody>
      </p:sp>
      <p:cxnSp>
        <p:nvCxnSpPr>
          <p:cNvPr id="30" name="AccentLine"/>
          <p:cNvCxnSpPr/>
          <p:nvPr/>
        </p:nvCxnSpPr>
        <p:spPr>
          <a:xfrm>
            <a:off x="609600" y="1016000"/>
            <a:ext cx="1524000" cy="0"/>
          </a:xfrm>
          <a:prstGeom prst="line">
            <a:avLst/>
          </a:prstGeom>
          <a:ln w="25400" cap="rnd">
            <a:solidFill>
              <a:srgbClr val="1967D2">
                <a:alpha val="30000"/>
              </a:srgbClr>
            </a:solidFill>
          </a:ln>
        </p:spPr>
      </p:cxnSp>
    </p:spTree>
    <p:extLst>
      <p:ext uri="{BB962C8B-B14F-4D97-AF65-F5344CB8AC3E}">
        <p14:creationId xmlns:p14="http://schemas.microsoft.com/office/powerpoint/2010/main" val="326127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N0"/>
          <p:cNvSpPr/>
          <p:nvPr/>
        </p:nvSpPr>
        <p:spPr>
          <a:xfrm>
            <a:off x="1868000" y="1345529"/>
            <a:ext cx="380000" cy="380000"/>
          </a:xfrm>
          <a:prstGeom prst="ellipse">
            <a:avLst/>
          </a:prstGeom>
          <a:solidFill>
            <a:srgbClr val="D4582A">
              <a:alpha val="15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800" b="1" dirty="0">
                <a:solidFill>
                  <a:srgbClr val="D4582A"/>
                </a:solidFill>
                <a:latin typeface="Calibri"/>
              </a:rPr>
              <a:t>1</a:t>
            </a:r>
          </a:p>
        </p:txBody>
      </p:sp>
      <p:sp>
        <p:nvSpPr>
          <p:cNvPr id="102" name="N1"/>
          <p:cNvSpPr/>
          <p:nvPr/>
        </p:nvSpPr>
        <p:spPr>
          <a:xfrm>
            <a:off x="5906000" y="1345529"/>
            <a:ext cx="380000" cy="380000"/>
          </a:xfrm>
          <a:prstGeom prst="ellipse">
            <a:avLst/>
          </a:prstGeom>
          <a:solidFill>
            <a:srgbClr val="5B9BD5">
              <a:alpha val="15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800" b="1" dirty="0">
                <a:solidFill>
                  <a:srgbClr val="5B9BD5"/>
                </a:solidFill>
                <a:latin typeface="Calibri"/>
              </a:rPr>
              <a:t>2</a:t>
            </a:r>
          </a:p>
        </p:txBody>
      </p:sp>
      <p:sp>
        <p:nvSpPr>
          <p:cNvPr id="103" name="N2"/>
          <p:cNvSpPr/>
          <p:nvPr/>
        </p:nvSpPr>
        <p:spPr>
          <a:xfrm>
            <a:off x="9944000" y="1345529"/>
            <a:ext cx="380000" cy="380000"/>
          </a:xfrm>
          <a:prstGeom prst="ellipse">
            <a:avLst/>
          </a:prstGeom>
          <a:solidFill>
            <a:srgbClr val="1967D2">
              <a:alpha val="15000"/>
            </a:srgbClr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800" b="1" dirty="0">
                <a:solidFill>
                  <a:srgbClr val="1967D2"/>
                </a:solidFill>
                <a:latin typeface="Calibri"/>
              </a:rPr>
              <a:t>3</a:t>
            </a:r>
          </a:p>
        </p:txBody>
      </p:sp>
      <p:sp>
        <p:nvSpPr>
          <p:cNvPr id="104" name="L0"/>
          <p:cNvSpPr/>
          <p:nvPr/>
        </p:nvSpPr>
        <p:spPr>
          <a:xfrm>
            <a:off x="508000" y="1776029"/>
            <a:ext cx="31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1400" b="1" spc="200" dirty="0">
                <a:solidFill>
                  <a:srgbClr val="5F6368"/>
                </a:solidFill>
                <a:latin typeface="Calibri"/>
              </a:rPr>
              <a:t>SOURCE</a:t>
            </a:r>
          </a:p>
        </p:txBody>
      </p:sp>
      <p:sp>
        <p:nvSpPr>
          <p:cNvPr id="105" name="L1"/>
          <p:cNvSpPr/>
          <p:nvPr/>
        </p:nvSpPr>
        <p:spPr>
          <a:xfrm>
            <a:off x="4546000" y="1776029"/>
            <a:ext cx="31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1400" b="1" spc="200" dirty="0">
                <a:solidFill>
                  <a:srgbClr val="5F6368"/>
                </a:solidFill>
                <a:latin typeface="Calibri"/>
              </a:rPr>
              <a:t>RAW LAYER</a:t>
            </a:r>
          </a:p>
        </p:txBody>
      </p:sp>
      <p:sp>
        <p:nvSpPr>
          <p:cNvPr id="106" name="L2"/>
          <p:cNvSpPr/>
          <p:nvPr/>
        </p:nvSpPr>
        <p:spPr>
          <a:xfrm>
            <a:off x="8584000" y="1776029"/>
            <a:ext cx="31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1400" b="1" spc="200" dirty="0">
                <a:solidFill>
                  <a:srgbClr val="5F6368"/>
                </a:solidFill>
                <a:latin typeface="Calibri"/>
              </a:rPr>
              <a:t>TRANSFORMED</a:t>
            </a:r>
          </a:p>
        </p:txBody>
      </p:sp>
      <p:sp>
        <p:nvSpPr>
          <p:cNvPr id="107" name="B0"/>
          <p:cNvSpPr/>
          <p:nvPr/>
        </p:nvSpPr>
        <p:spPr>
          <a:xfrm>
            <a:off x="508000" y="2196029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D4582A"/>
          </a:solidFill>
          <a:ln w="0"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 wrap="square" lIns="180000" tIns="100000" rIns="180000" bIns="100000" anchor="ctr" anchorCtr="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Source Database</a:t>
            </a:r>
          </a:p>
        </p:txBody>
      </p:sp>
      <p:sp>
        <p:nvSpPr>
          <p:cNvPr id="108" name="B1"/>
          <p:cNvSpPr/>
          <p:nvPr/>
        </p:nvSpPr>
        <p:spPr>
          <a:xfrm>
            <a:off x="4546000" y="2196029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0"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 wrap="square" lIns="180000" tIns="100000" rIns="180000" bIns="100000" anchor="ctr" anchorCtr="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BigQuery Raw</a:t>
            </a:r>
          </a:p>
          <a:p>
            <a:pPr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Ingested Data</a:t>
            </a:r>
          </a:p>
        </p:txBody>
      </p:sp>
      <p:sp>
        <p:nvSpPr>
          <p:cNvPr id="109" name="B2"/>
          <p:cNvSpPr/>
          <p:nvPr/>
        </p:nvSpPr>
        <p:spPr>
          <a:xfrm>
            <a:off x="8584000" y="2196029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1967D2"/>
          </a:solidFill>
          <a:ln w="0"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 wrap="square" lIns="180000" tIns="100000" rIns="180000" bIns="100000" anchor="ctr" anchorCtr="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BigQuery Transformed</a:t>
            </a:r>
          </a:p>
          <a:p>
            <a:pPr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Modeled Data</a:t>
            </a:r>
          </a:p>
        </p:txBody>
      </p:sp>
      <p:sp>
        <p:nvSpPr>
          <p:cNvPr id="111" name="AR0"/>
          <p:cNvSpPr/>
          <p:nvPr/>
        </p:nvSpPr>
        <p:spPr>
          <a:xfrm>
            <a:off x="3708000" y="2736029"/>
            <a:ext cx="738000" cy="320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5F6368"/>
          </a:solidFill>
          <a:ln w="0"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13" name="AR1"/>
          <p:cNvSpPr/>
          <p:nvPr/>
        </p:nvSpPr>
        <p:spPr>
          <a:xfrm>
            <a:off x="7746000" y="2736029"/>
            <a:ext cx="738000" cy="320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5F6368"/>
          </a:solidFill>
          <a:ln w="0">
            <a:noFill/>
          </a:ln>
        </p:spPr>
        <p:txBody>
          <a:bodyPr wrap="square" anchor="ctr"/>
          <a:lstStyle/>
          <a:p>
            <a:endParaRPr lang="en-US"/>
          </a:p>
        </p:txBody>
      </p:sp>
      <p:cxnSp>
        <p:nvCxnSpPr>
          <p:cNvPr id="114" name="CN0"/>
          <p:cNvCxnSpPr/>
          <p:nvPr/>
        </p:nvCxnSpPr>
        <p:spPr>
          <a:xfrm>
            <a:off x="2058000" y="3596029"/>
            <a:ext cx="0" cy="380000"/>
          </a:xfrm>
          <a:prstGeom prst="line">
            <a:avLst/>
          </a:prstGeom>
          <a:ln w="15875">
            <a:solidFill>
              <a:srgbClr val="D4582A">
                <a:alpha val="40000"/>
              </a:srgbClr>
            </a:solidFill>
            <a:prstDash val="dash"/>
          </a:ln>
        </p:spPr>
      </p:cxnSp>
      <p:sp>
        <p:nvSpPr>
          <p:cNvPr id="115" name="D0"/>
          <p:cNvSpPr/>
          <p:nvPr/>
        </p:nvSpPr>
        <p:spPr>
          <a:xfrm>
            <a:off x="508000" y="3976029"/>
            <a:ext cx="3100000" cy="11000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D4582A">
                <a:alpha val="35000"/>
              </a:srgbClr>
            </a:solidFill>
          </a:ln>
        </p:spPr>
        <p:txBody>
          <a:bodyPr wrap="square" lIns="180000" tIns="72000" rIns="180000" bIns="72000" anchor="ctr" anchorCtr="0"/>
          <a:lstStyle/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D4582A"/>
                </a:solidFill>
                <a:latin typeface="Calibri"/>
              </a:rPr>
              <a:t>Tables and Views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D4582A"/>
                </a:solidFill>
                <a:latin typeface="Calibri"/>
              </a:rPr>
              <a:t>Transactional Data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D4582A"/>
                </a:solidFill>
                <a:latin typeface="Calibri"/>
              </a:rPr>
              <a:t>Operational Systems</a:t>
            </a:r>
          </a:p>
        </p:txBody>
      </p:sp>
      <p:cxnSp>
        <p:nvCxnSpPr>
          <p:cNvPr id="116" name="CN1"/>
          <p:cNvCxnSpPr/>
          <p:nvPr/>
        </p:nvCxnSpPr>
        <p:spPr>
          <a:xfrm>
            <a:off x="6096000" y="3596029"/>
            <a:ext cx="0" cy="380000"/>
          </a:xfrm>
          <a:prstGeom prst="line">
            <a:avLst/>
          </a:prstGeom>
          <a:ln w="15875">
            <a:solidFill>
              <a:srgbClr val="5B9BD5">
                <a:alpha val="40000"/>
              </a:srgbClr>
            </a:solidFill>
            <a:prstDash val="dash"/>
          </a:ln>
        </p:spPr>
      </p:cxnSp>
      <p:sp>
        <p:nvSpPr>
          <p:cNvPr id="117" name="D1"/>
          <p:cNvSpPr/>
          <p:nvPr/>
        </p:nvSpPr>
        <p:spPr>
          <a:xfrm>
            <a:off x="4546000" y="3976029"/>
            <a:ext cx="3100000" cy="11000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5B9BD5">
                <a:alpha val="35000"/>
              </a:srgbClr>
            </a:solidFill>
          </a:ln>
        </p:spPr>
        <p:txBody>
          <a:bodyPr wrap="square" lIns="180000" tIns="72000" rIns="180000" bIns="72000" anchor="ctr" anchorCtr="0"/>
          <a:lstStyle/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5B9BD5"/>
                </a:solidFill>
                <a:latin typeface="Calibri"/>
              </a:rPr>
              <a:t>Raw Replicated Tables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5B9BD5"/>
                </a:solidFill>
                <a:latin typeface="Calibri"/>
              </a:rPr>
              <a:t>Schema Mirroring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5B9BD5"/>
                </a:solidFill>
                <a:latin typeface="Calibri"/>
              </a:rPr>
              <a:t>Append / Upsert</a:t>
            </a:r>
          </a:p>
        </p:txBody>
      </p:sp>
      <p:cxnSp>
        <p:nvCxnSpPr>
          <p:cNvPr id="118" name="CN2"/>
          <p:cNvCxnSpPr/>
          <p:nvPr/>
        </p:nvCxnSpPr>
        <p:spPr>
          <a:xfrm>
            <a:off x="10134000" y="3596029"/>
            <a:ext cx="0" cy="380000"/>
          </a:xfrm>
          <a:prstGeom prst="line">
            <a:avLst/>
          </a:prstGeom>
          <a:ln w="15875">
            <a:solidFill>
              <a:srgbClr val="1967D2">
                <a:alpha val="40000"/>
              </a:srgbClr>
            </a:solidFill>
            <a:prstDash val="dash"/>
          </a:ln>
        </p:spPr>
      </p:cxnSp>
      <p:sp>
        <p:nvSpPr>
          <p:cNvPr id="119" name="D2"/>
          <p:cNvSpPr/>
          <p:nvPr/>
        </p:nvSpPr>
        <p:spPr>
          <a:xfrm>
            <a:off x="8584000" y="3976029"/>
            <a:ext cx="3100000" cy="11000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967D2">
                <a:alpha val="35000"/>
              </a:srgbClr>
            </a:solidFill>
          </a:ln>
        </p:spPr>
        <p:txBody>
          <a:bodyPr wrap="square" lIns="180000" tIns="72000" rIns="180000" bIns="72000" anchor="ctr" anchorCtr="0"/>
          <a:lstStyle/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1967D2"/>
                </a:solidFill>
                <a:latin typeface="Calibri"/>
              </a:rPr>
              <a:t>Star Schema Models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1967D2"/>
                </a:solidFill>
                <a:latin typeface="Calibri"/>
              </a:rPr>
              <a:t>Business Logic</a:t>
            </a:r>
          </a:p>
          <a:p>
            <a:pPr marL="228600" indent="-228600" algn="l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1967D2"/>
                </a:solidFill>
                <a:latin typeface="Calibri"/>
              </a:rPr>
              <a:t>Analytics Ready</a:t>
            </a:r>
          </a:p>
        </p:txBody>
      </p:sp>
      <p:sp>
        <p:nvSpPr>
          <p:cNvPr id="150" name="FnLabel0"/>
          <p:cNvSpPr/>
          <p:nvPr/>
        </p:nvSpPr>
        <p:spPr>
          <a:xfrm>
            <a:off x="3619500" y="2405329"/>
            <a:ext cx="9144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b" anchorCtr="0"/>
          <a:lstStyle/>
          <a:p>
            <a:pPr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EL</a:t>
            </a:r>
          </a:p>
        </p:txBody>
      </p:sp>
      <p:sp>
        <p:nvSpPr>
          <p:cNvPr id="151" name="ProdLabel0"/>
          <p:cNvSpPr/>
          <p:nvPr/>
        </p:nvSpPr>
        <p:spPr>
          <a:xfrm>
            <a:off x="3619500" y="3102829"/>
            <a:ext cx="9144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/>
              </a:rPr>
              <a:t>Airbyte</a:t>
            </a:r>
          </a:p>
        </p:txBody>
      </p:sp>
      <p:sp>
        <p:nvSpPr>
          <p:cNvPr id="152" name="FnLabel1"/>
          <p:cNvSpPr/>
          <p:nvPr/>
        </p:nvSpPr>
        <p:spPr>
          <a:xfrm>
            <a:off x="7658100" y="2405329"/>
            <a:ext cx="9144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b" anchorCtr="0"/>
          <a:lstStyle/>
          <a:p>
            <a:pPr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Transform</a:t>
            </a:r>
          </a:p>
        </p:txBody>
      </p:sp>
      <p:sp>
        <p:nvSpPr>
          <p:cNvPr id="153" name="ProdLabel1"/>
          <p:cNvSpPr/>
          <p:nvPr/>
        </p:nvSpPr>
        <p:spPr>
          <a:xfrm>
            <a:off x="7658100" y="3102829"/>
            <a:ext cx="9144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/>
              </a:rPr>
              <a:t>dbt</a:t>
            </a:r>
          </a:p>
        </p:txBody>
      </p:sp>
      <p:sp>
        <p:nvSpPr>
          <p:cNvPr id="160" name="OrchBar"/>
          <p:cNvSpPr/>
          <p:nvPr/>
        </p:nvSpPr>
        <p:spPr>
          <a:xfrm>
            <a:off x="508000" y="5313429"/>
            <a:ext cx="11176000" cy="635000"/>
          </a:xfrm>
          <a:prstGeom prst="roundRect">
            <a:avLst>
              <a:gd name="adj" fmla="val 16000"/>
            </a:avLst>
          </a:prstGeom>
          <a:solidFill>
            <a:srgbClr val="424752"/>
          </a:solidFill>
          <a:ln w="0"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 wrap="square" lIns="280000" tIns="72000" rIns="180000" bIns="72000" anchor="ctr" anchorCtr="0"/>
          <a:lstStyle/>
          <a:p>
            <a:pPr algn="ctr">
              <a:buNone/>
            </a:pPr>
            <a:r>
              <a:rPr lang="en-US" dirty="0">
                <a:solidFill>
                  <a:srgbClr val="FFFFFF">
                    <a:alpha val="80000"/>
                  </a:srgbClr>
                </a:solidFill>
                <a:latin typeface="Calibri"/>
              </a:rPr>
              <a:t>Orchestration  </a:t>
            </a:r>
            <a:r>
              <a:rPr lang="en-US" sz="2000" b="1" dirty="0" err="1">
                <a:solidFill>
                  <a:srgbClr val="FFFFFF"/>
                </a:solidFill>
                <a:latin typeface="Calibri"/>
              </a:rPr>
              <a:t>dagster</a:t>
            </a:r>
            <a:endParaRPr lang="en-US" sz="2000" b="1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61" name="OL0"/>
          <p:cNvCxnSpPr/>
          <p:nvPr/>
        </p:nvCxnSpPr>
        <p:spPr>
          <a:xfrm>
            <a:off x="2057400" y="5084829"/>
            <a:ext cx="0" cy="228600"/>
          </a:xfrm>
          <a:prstGeom prst="line">
            <a:avLst/>
          </a:prstGeom>
          <a:ln w="12700">
            <a:solidFill>
              <a:srgbClr val="424752">
                <a:alpha val="30000"/>
              </a:srgbClr>
            </a:solidFill>
            <a:prstDash val="dash"/>
          </a:ln>
        </p:spPr>
      </p:cxnSp>
      <p:cxnSp>
        <p:nvCxnSpPr>
          <p:cNvPr id="162" name="OL1"/>
          <p:cNvCxnSpPr/>
          <p:nvPr/>
        </p:nvCxnSpPr>
        <p:spPr>
          <a:xfrm>
            <a:off x="6096000" y="5084829"/>
            <a:ext cx="0" cy="228600"/>
          </a:xfrm>
          <a:prstGeom prst="line">
            <a:avLst/>
          </a:prstGeom>
          <a:ln w="12700">
            <a:solidFill>
              <a:srgbClr val="424752">
                <a:alpha val="30000"/>
              </a:srgbClr>
            </a:solidFill>
            <a:prstDash val="dash"/>
          </a:ln>
        </p:spPr>
      </p:cxnSp>
      <p:cxnSp>
        <p:nvCxnSpPr>
          <p:cNvPr id="163" name="OL2"/>
          <p:cNvCxnSpPr/>
          <p:nvPr/>
        </p:nvCxnSpPr>
        <p:spPr>
          <a:xfrm>
            <a:off x="10134600" y="5084829"/>
            <a:ext cx="0" cy="228600"/>
          </a:xfrm>
          <a:prstGeom prst="line">
            <a:avLst/>
          </a:prstGeom>
          <a:ln w="12700">
            <a:solidFill>
              <a:srgbClr val="424752">
                <a:alpha val="30000"/>
              </a:srgbClr>
            </a:solidFill>
            <a:prstDash val="dash"/>
          </a:ln>
        </p:spPr>
      </p:cxnSp>
      <p:sp>
        <p:nvSpPr>
          <p:cNvPr id="200" name="TitleBadge"/>
          <p:cNvSpPr/>
          <p:nvPr/>
        </p:nvSpPr>
        <p:spPr>
          <a:xfrm>
            <a:off x="609600" y="457200"/>
            <a:ext cx="3810000" cy="457200"/>
          </a:xfrm>
          <a:prstGeom prst="roundRect">
            <a:avLst>
              <a:gd name="adj" fmla="val 20000"/>
            </a:avLst>
          </a:prstGeom>
          <a:solidFill>
            <a:srgbClr val="1967D2"/>
          </a:solidFill>
          <a:ln w="0">
            <a:noFill/>
          </a:ln>
        </p:spPr>
        <p:txBody>
          <a:bodyPr wrap="square" lIns="72000" rIns="72000" anchor="ctr" anchorCtr="0"/>
          <a:lstStyle/>
          <a:p>
            <a:pPr algn="ctr">
              <a:buNone/>
            </a:pPr>
            <a:r>
              <a:rPr lang="en-US" sz="2000" b="1" spc="300" dirty="0">
                <a:solidFill>
                  <a:srgbClr val="FFFFFF"/>
                </a:solidFill>
                <a:latin typeface="Calibri"/>
              </a:rPr>
              <a:t>ENTERPRISE DATA FLOW</a:t>
            </a:r>
          </a:p>
        </p:txBody>
      </p:sp>
      <p:cxnSp>
        <p:nvCxnSpPr>
          <p:cNvPr id="201" name="AccentLine2"/>
          <p:cNvCxnSpPr/>
          <p:nvPr/>
        </p:nvCxnSpPr>
        <p:spPr>
          <a:xfrm>
            <a:off x="609600" y="1016000"/>
            <a:ext cx="3810000" cy="0"/>
          </a:xfrm>
          <a:prstGeom prst="line">
            <a:avLst/>
          </a:prstGeom>
          <a:ln w="25400" cap="rnd">
            <a:solidFill>
              <a:srgbClr val="1967D2">
                <a:alpha val="30000"/>
              </a:srgbClr>
            </a:solidFill>
          </a:ln>
        </p:spPr>
      </p:cxnSp>
    </p:spTree>
    <p:extLst>
      <p:ext uri="{BB962C8B-B14F-4D97-AF65-F5344CB8AC3E}">
        <p14:creationId xmlns:p14="http://schemas.microsoft.com/office/powerpoint/2010/main" val="253845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B4A359-9CFB-6B97-FC85-822F4627A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496" y="1270000"/>
            <a:ext cx="7772400" cy="5397500"/>
          </a:xfrm>
          <a:prstGeom prst="rect">
            <a:avLst/>
          </a:prstGeom>
        </p:spPr>
      </p:pic>
      <p:sp>
        <p:nvSpPr>
          <p:cNvPr id="10" name="TitleBadge"/>
          <p:cNvSpPr/>
          <p:nvPr/>
        </p:nvSpPr>
        <p:spPr>
          <a:xfrm>
            <a:off x="609600" y="457200"/>
            <a:ext cx="4000000" cy="457200"/>
          </a:xfrm>
          <a:prstGeom prst="roundRect">
            <a:avLst>
              <a:gd name="adj" fmla="val 20000"/>
            </a:avLst>
          </a:prstGeom>
          <a:solidFill>
            <a:srgbClr val="1967D2"/>
          </a:solidFill>
          <a:ln w="0">
            <a:noFill/>
          </a:ln>
        </p:spPr>
        <p:txBody>
          <a:bodyPr wrap="square" lIns="72000" rIns="72000" anchor="ctr" anchorCtr="0"/>
          <a:lstStyle/>
          <a:p>
            <a:pPr algn="ctr">
              <a:buNone/>
            </a:pPr>
            <a:r>
              <a:rPr lang="en-US" sz="2000" b="1" spc="300" dirty="0">
                <a:solidFill>
                  <a:srgbClr val="FFFFFF"/>
                </a:solidFill>
                <a:latin typeface="Calibri"/>
              </a:rPr>
              <a:t>COMPLETE FLOW W/O FACT</a:t>
            </a:r>
          </a:p>
        </p:txBody>
      </p:sp>
      <p:cxnSp>
        <p:nvCxnSpPr>
          <p:cNvPr id="11" name="AccentLine"/>
          <p:cNvCxnSpPr/>
          <p:nvPr/>
        </p:nvCxnSpPr>
        <p:spPr>
          <a:xfrm>
            <a:off x="609600" y="1016000"/>
            <a:ext cx="4000000" cy="0"/>
          </a:xfrm>
          <a:prstGeom prst="line">
            <a:avLst/>
          </a:prstGeom>
          <a:ln w="25400" cap="rnd">
            <a:solidFill>
              <a:srgbClr val="1967D2">
                <a:alpha val="30000"/>
              </a:srgbClr>
            </a:solidFill>
          </a:ln>
        </p:spPr>
      </p:cxnSp>
    </p:spTree>
    <p:extLst>
      <p:ext uri="{BB962C8B-B14F-4D97-AF65-F5344CB8AC3E}">
        <p14:creationId xmlns:p14="http://schemas.microsoft.com/office/powerpoint/2010/main" val="285757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TopLine"/>
          <p:cNvCxnSpPr/>
          <p:nvPr/>
        </p:nvCxnSpPr>
        <p:spPr>
          <a:xfrm>
            <a:off x="4572000" y="2829000"/>
            <a:ext cx="3048000" cy="0"/>
          </a:xfrm>
          <a:prstGeom prst="line">
            <a:avLst/>
          </a:prstGeom>
          <a:ln w="25400" cap="rnd">
            <a:solidFill>
              <a:srgbClr val="1967D2">
                <a:alpha val="30000"/>
              </a:srgbClr>
            </a:solidFill>
          </a:ln>
        </p:spPr>
      </p:cxnSp>
      <p:sp>
        <p:nvSpPr>
          <p:cNvPr id="11" name="SectionTitle"/>
          <p:cNvSpPr/>
          <p:nvPr/>
        </p:nvSpPr>
        <p:spPr>
          <a:xfrm>
            <a:off x="2096000" y="3029000"/>
            <a:ext cx="80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>
              <a:buNone/>
            </a:pPr>
            <a:r>
              <a:rPr lang="en-US" sz="3600" b="1" spc="500" dirty="0">
                <a:solidFill>
                  <a:srgbClr val="1967D2"/>
                </a:solidFill>
                <a:latin typeface="Calibri"/>
              </a:rPr>
              <a:t>BACKUP SLIDES</a:t>
            </a:r>
          </a:p>
        </p:txBody>
      </p:sp>
      <p:cxnSp>
        <p:nvCxnSpPr>
          <p:cNvPr id="12" name="BottomLine"/>
          <p:cNvCxnSpPr/>
          <p:nvPr/>
        </p:nvCxnSpPr>
        <p:spPr>
          <a:xfrm>
            <a:off x="4572000" y="4029000"/>
            <a:ext cx="3048000" cy="0"/>
          </a:xfrm>
          <a:prstGeom prst="line">
            <a:avLst/>
          </a:prstGeom>
          <a:ln w="25400" cap="rnd">
            <a:solidFill>
              <a:srgbClr val="1967D2">
                <a:alpha val="30000"/>
              </a:srgbClr>
            </a:solidFill>
          </a:ln>
        </p:spPr>
      </p:cxnSp>
    </p:spTree>
    <p:extLst>
      <p:ext uri="{BB962C8B-B14F-4D97-AF65-F5344CB8AC3E}">
        <p14:creationId xmlns:p14="http://schemas.microsoft.com/office/powerpoint/2010/main" val="1502883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96B11F-D199-CD83-BD5C-E18C56D4F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045" y="1270000"/>
            <a:ext cx="9259910" cy="5397500"/>
          </a:xfrm>
          <a:prstGeom prst="rect">
            <a:avLst/>
          </a:prstGeom>
        </p:spPr>
      </p:pic>
      <p:sp>
        <p:nvSpPr>
          <p:cNvPr id="10" name="TitleBadge"/>
          <p:cNvSpPr/>
          <p:nvPr/>
        </p:nvSpPr>
        <p:spPr>
          <a:xfrm>
            <a:off x="609600" y="457200"/>
            <a:ext cx="2800000" cy="457200"/>
          </a:xfrm>
          <a:prstGeom prst="roundRect">
            <a:avLst>
              <a:gd name="adj" fmla="val 20000"/>
            </a:avLst>
          </a:prstGeom>
          <a:solidFill>
            <a:srgbClr val="1967D2"/>
          </a:solidFill>
          <a:ln w="0">
            <a:noFill/>
          </a:ln>
        </p:spPr>
        <p:txBody>
          <a:bodyPr wrap="square" lIns="72000" rIns="72000" anchor="ctr" anchorCtr="0"/>
          <a:lstStyle/>
          <a:p>
            <a:pPr algn="ctr">
              <a:buNone/>
            </a:pPr>
            <a:r>
              <a:rPr lang="en-US" sz="2000" b="1" spc="300" dirty="0">
                <a:solidFill>
                  <a:srgbClr val="FFFFFF"/>
                </a:solidFill>
                <a:latin typeface="Calibri"/>
              </a:rPr>
              <a:t>COMPLETE FLOW</a:t>
            </a:r>
          </a:p>
        </p:txBody>
      </p:sp>
      <p:cxnSp>
        <p:nvCxnSpPr>
          <p:cNvPr id="11" name="AccentLine"/>
          <p:cNvCxnSpPr/>
          <p:nvPr/>
        </p:nvCxnSpPr>
        <p:spPr>
          <a:xfrm>
            <a:off x="609600" y="1016000"/>
            <a:ext cx="2800000" cy="0"/>
          </a:xfrm>
          <a:prstGeom prst="line">
            <a:avLst/>
          </a:prstGeom>
          <a:ln w="25400" cap="rnd">
            <a:solidFill>
              <a:srgbClr val="1967D2">
                <a:alpha val="30000"/>
              </a:srgbClr>
            </a:solidFill>
          </a:ln>
        </p:spPr>
      </p:cxnSp>
    </p:spTree>
    <p:extLst>
      <p:ext uri="{BB962C8B-B14F-4D97-AF65-F5344CB8AC3E}">
        <p14:creationId xmlns:p14="http://schemas.microsoft.com/office/powerpoint/2010/main" val="1823665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6BA7A19-37D4-E446-8CEB-CC1F1DE57DB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89</Words>
  <Application>Microsoft Macintosh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Office Theme</vt:lpstr>
      <vt:lpstr>Data Pipeline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Person</dc:creator>
  <cp:lastModifiedBy>Scott Person</cp:lastModifiedBy>
  <cp:revision>3</cp:revision>
  <dcterms:created xsi:type="dcterms:W3CDTF">2026-03-09T15:43:53Z</dcterms:created>
  <dcterms:modified xsi:type="dcterms:W3CDTF">2026-03-09T17:36:20Z</dcterms:modified>
</cp:coreProperties>
</file>