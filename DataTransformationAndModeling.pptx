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57" r:id="rId5"/>
    <p:sldId id="261" r:id="rId6"/>
    <p:sldId id="264" r:id="rId7"/>
    <p:sldId id="263" r:id="rId8"/>
    <p:sldId id="262" r:id="rId9"/>
    <p:sldId id="265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91"/>
    <p:restoredTop sz="94694"/>
  </p:normalViewPr>
  <p:slideViewPr>
    <p:cSldViewPr snapToGrid="0">
      <p:cViewPr varScale="1">
        <p:scale>
          <a:sx n="107" d="100"/>
          <a:sy n="107" d="100"/>
        </p:scale>
        <p:origin x="251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C28A4E-C455-5645-AA17-DD2887398BCB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70558B-0FB6-1C42-8DEB-5A66BEAF8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222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Lots of hocus pocus in optimizing queries – research and know how your particular database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0558B-0FB6-1C42-8DEB-5A66BEAF857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991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0558B-0FB6-1C42-8DEB-5A66BEAF857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3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EDCBD-51BC-38E4-CD47-69A9B25FDA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620ADB-FECA-8E18-571C-20F1602F5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71AE1-D906-5772-AE58-63DFCC8C6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439F8-2323-EE4E-9CB8-D3D4212AC26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804D5-FCDB-F6BB-ABD6-8B015FF2B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178AE-B0FD-2EB3-FDBF-D57400041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EFA8-F0BA-694C-9704-EDB5E4D18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30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AFFA3-2D8B-1E69-5A13-733F9C70C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BB3EE-04CC-84AF-2374-2FD445FBC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1DA15-004D-CEC3-2C49-D586250D9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439F8-2323-EE4E-9CB8-D3D4212AC26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B7CC1-B8E6-4955-DFFF-FD341106E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8815D-5375-2C00-E49C-BD22BACE1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EFA8-F0BA-694C-9704-EDB5E4D18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11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F57-E3B8-B6EF-6A3F-3E2CC408F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DC439-F1F2-9929-91F7-7D5851A4F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04F48-E99D-619A-41FD-78C470E27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439F8-2323-EE4E-9CB8-D3D4212AC26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5578F-56D3-A98B-B43C-ECCAAF1E8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3FAC4-1437-626B-1822-EFC86B2C6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EFA8-F0BA-694C-9704-EDB5E4D18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2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1FCE-4D90-E72A-66A7-8347DA0FF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2855B-7595-8AC2-4B3B-44381BBE42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51D0C-7445-AF4B-EA33-F4F60E7B5C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C552E-B4CD-D9EE-CBC6-18011F0B9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439F8-2323-EE4E-9CB8-D3D4212AC26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7AB5A-9815-520F-F19F-F647E175F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391-11B4-61B4-90E4-647228C5C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EFA8-F0BA-694C-9704-EDB5E4D18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485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E8326-10EB-0D63-851C-6E4AF44C3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0DAAE-A381-F18F-DFD2-0DAA1C0B7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44E2D-5A67-6D8F-1827-4BB799B17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758B4B-339B-C722-0AA5-0B012ADF6B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393B96-77C7-BA75-EA30-75A38350F6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BE9505-AB81-3DA2-5728-F0CBE38EF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439F8-2323-EE4E-9CB8-D3D4212AC26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0EF52C-AB60-691B-818B-270F73F38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C8606-574F-6F2B-B544-BC551C3C1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EFA8-F0BA-694C-9704-EDB5E4D18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296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0F392-383D-6AF4-C227-2993D4BE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33676-131B-996D-4E8F-F08E96C44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439F8-2323-EE4E-9CB8-D3D4212AC26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6A4FA-53EF-FE33-CEEB-E586078E4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6F629B-5A85-4118-3084-6FE5F77E2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EFA8-F0BA-694C-9704-EDB5E4D18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221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245814-878F-9842-1403-7884E53FC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439F8-2323-EE4E-9CB8-D3D4212AC26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7E2745-D976-5F91-6D82-D223CEB31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27A8F-5CAD-ADF0-E9F2-B220264D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EFA8-F0BA-694C-9704-EDB5E4D18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26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06E20-9CE2-4E13-26D4-7914DF5E6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95AC4-63DF-0CB2-C824-063BAF0BB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49AA80-E0B1-2ED3-C189-1F8BFA4D8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4E479-8B96-BE50-88C5-98A270A04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439F8-2323-EE4E-9CB8-D3D4212AC26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8C522-AEB7-5C55-EACC-B63D92DE2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4D4CA-15B6-1A8C-8BC8-4189A94C8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EFA8-F0BA-694C-9704-EDB5E4D18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284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F6FF8-6B0C-80A3-63FA-D381EB172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EBCDA3-0005-D61A-1133-8D4039E7AC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F67719-F122-EE6F-31E0-AE0B12DD2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5A8929-9EB5-884B-9EC2-A902951F9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439F8-2323-EE4E-9CB8-D3D4212AC26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216CA-E3DE-AE8A-39AF-759518CC1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98DD7-1A3D-FE70-392D-9FC0A1F7E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EFA8-F0BA-694C-9704-EDB5E4D18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828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82617-4CB1-CC61-E412-45FB906DE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CE7C7-1888-AE27-D629-81A83B186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A4CE0-D23A-8979-5FAA-504977230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439F8-2323-EE4E-9CB8-D3D4212AC26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88420-84C3-A760-1DF0-5CF71F8FD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3AED3-9361-7298-24B6-C0D44E7D0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EFA8-F0BA-694C-9704-EDB5E4D18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475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EF287C-91A4-34A6-1056-CC3AA7EFDC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6B6F8E-3494-35FB-3B9F-F60046288B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C1CD9-B8A9-C153-4312-5775CE5EF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439F8-2323-EE4E-9CB8-D3D4212AC26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312E6-6A38-B7E0-C870-AA37A797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61FC3-CC00-0AB2-7D17-A080E76DB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EFA8-F0BA-694C-9704-EDB5E4D18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86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6DB109-AE83-2A22-6DD6-6DE3ABEF8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2DF6A-6155-EDF6-64F2-351E50C70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50F43-55B0-3A7C-B8E5-A645B5A9AB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439F8-2323-EE4E-9CB8-D3D4212AC26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3E01C-0EE6-650D-C28B-9A801E47E3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B2AE8-1E09-EA54-F986-4D0F8029E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16EFA8-F0BA-694C-9704-EDB5E4D18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04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sql/relational-databases/query-processing-architecture-guid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01FFC-B78E-13BE-F2BD-665242512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88482"/>
            <a:ext cx="9144000" cy="2291632"/>
          </a:xfrm>
        </p:spPr>
        <p:txBody>
          <a:bodyPr>
            <a:normAutofit fontScale="90000"/>
          </a:bodyPr>
          <a:lstStyle/>
          <a:p>
            <a:r>
              <a:rPr lang="en-US" dirty="0"/>
              <a:t>Querying and Data Warehousing</a:t>
            </a:r>
            <a:br>
              <a:rPr lang="en-US" dirty="0"/>
            </a:br>
            <a:r>
              <a:rPr lang="en-US" dirty="0"/>
              <a:t>BUJ International</a:t>
            </a:r>
          </a:p>
        </p:txBody>
      </p:sp>
    </p:spTree>
    <p:extLst>
      <p:ext uri="{BB962C8B-B14F-4D97-AF65-F5344CB8AC3E}">
        <p14:creationId xmlns:p14="http://schemas.microsoft.com/office/powerpoint/2010/main" val="1771520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754C3-4432-2F51-23EB-9918EF238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A241C-4A6E-3E1F-F571-467F70DFD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Command in SQL whose purpose is to get the DB to do something</a:t>
            </a:r>
          </a:p>
          <a:p>
            <a:r>
              <a:rPr lang="en-US" sz="3600" dirty="0"/>
              <a:t>Types</a:t>
            </a:r>
          </a:p>
          <a:p>
            <a:pPr lvl="1"/>
            <a:r>
              <a:rPr lang="en-US" sz="3200" dirty="0"/>
              <a:t>Data Definition Language (DDL) – Define DB Objects</a:t>
            </a:r>
          </a:p>
          <a:p>
            <a:pPr lvl="1"/>
            <a:r>
              <a:rPr lang="en-US" sz="3200" dirty="0"/>
              <a:t>Data Manipulation Language (DML) – Change data</a:t>
            </a:r>
          </a:p>
          <a:p>
            <a:pPr lvl="1"/>
            <a:r>
              <a:rPr lang="en-US" sz="3200" dirty="0"/>
              <a:t>Data Control Language (DCL) – Data access control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716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562FB-C291-8F8E-81BB-A4D4BFDBB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 of a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A026E-3CF2-D808-8926-B58B7C7FF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62649"/>
            <a:ext cx="10515600" cy="71431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dirty="0"/>
              <a:t>(Reis &amp; Housley, 2022, Figure 8-2)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E6C608-C1F0-278C-B8CD-78CCF5FB8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854" y="2208811"/>
            <a:ext cx="10809247" cy="267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162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A4482-1209-F127-A559-4B76A6D63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Query Optimizers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716BA-40B3-1062-3C6E-53A619B9E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6478" y="5545745"/>
            <a:ext cx="2910444" cy="5108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(Microsoft, 2025)</a:t>
            </a:r>
          </a:p>
        </p:txBody>
      </p:sp>
      <p:pic>
        <p:nvPicPr>
          <p:cNvPr id="5" name="Picture 4" descr="Diagram of the Query processor I/O.">
            <a:extLst>
              <a:ext uri="{FF2B5EF4-FFF2-40B4-BE49-F238E27FC236}">
                <a16:creationId xmlns:a16="http://schemas.microsoft.com/office/drawing/2014/main" id="{C77B115C-8B81-FB73-96E8-3F358E34B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5767" y="3293826"/>
            <a:ext cx="4056792" cy="21315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3F5116-1BD5-BB00-9246-28972DED19D9}"/>
              </a:ext>
            </a:extLst>
          </p:cNvPr>
          <p:cNvSpPr txBox="1"/>
          <p:nvPr/>
        </p:nvSpPr>
        <p:spPr>
          <a:xfrm>
            <a:off x="1330036" y="1805049"/>
            <a:ext cx="99168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Take a SQL query and information about the database and create the most efficient execution plan</a:t>
            </a:r>
          </a:p>
        </p:txBody>
      </p:sp>
    </p:spTree>
    <p:extLst>
      <p:ext uri="{BB962C8B-B14F-4D97-AF65-F5344CB8AC3E}">
        <p14:creationId xmlns:p14="http://schemas.microsoft.com/office/powerpoint/2010/main" val="1891720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B684B-5BBB-524E-EE77-AB9807572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F0116-969B-4C96-428E-11AFA93BA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Execution plan</a:t>
            </a:r>
          </a:p>
          <a:p>
            <a:pPr lvl="1"/>
            <a:r>
              <a:rPr lang="en-US" dirty="0"/>
              <a:t>Table scans (bad)</a:t>
            </a:r>
          </a:p>
          <a:p>
            <a:pPr lvl="1"/>
            <a:r>
              <a:rPr lang="en-US" dirty="0"/>
              <a:t>Key lookups – indicate only partial index</a:t>
            </a:r>
          </a:p>
          <a:p>
            <a:pPr lvl="1"/>
            <a:r>
              <a:rPr lang="en-US" dirty="0"/>
              <a:t>Fat Arrows (SQL Server in particular) – lots of data</a:t>
            </a:r>
          </a:p>
          <a:p>
            <a:r>
              <a:rPr lang="en-US" dirty="0"/>
              <a:t>Indexing</a:t>
            </a:r>
          </a:p>
          <a:p>
            <a:pPr lvl="1"/>
            <a:r>
              <a:rPr lang="en-US" dirty="0"/>
              <a:t>Columns in WHERE clauses – in order of most to least commonly used</a:t>
            </a:r>
          </a:p>
          <a:p>
            <a:pPr lvl="1"/>
            <a:r>
              <a:rPr lang="en-US" dirty="0"/>
              <a:t>Columns used in joins</a:t>
            </a:r>
          </a:p>
          <a:p>
            <a:r>
              <a:rPr lang="en-US" dirty="0"/>
              <a:t>Reduce the amount of data</a:t>
            </a:r>
          </a:p>
          <a:p>
            <a:pPr lvl="1"/>
            <a:r>
              <a:rPr lang="en-US" dirty="0"/>
              <a:t>WHERE clause</a:t>
            </a:r>
          </a:p>
          <a:p>
            <a:pPr lvl="1"/>
            <a:r>
              <a:rPr lang="en-US" dirty="0"/>
              <a:t>CTEs/subqueries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746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41B5A-8EBF-EF01-781F-BD63BE90A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 Schema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86C065-44B6-9C04-0F25-EA711FC6D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140" y="1329900"/>
            <a:ext cx="5845720" cy="53056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3C2C22-D97A-B6B5-0B66-3962A030EC04}"/>
              </a:ext>
            </a:extLst>
          </p:cNvPr>
          <p:cNvSpPr txBox="1"/>
          <p:nvPr/>
        </p:nvSpPr>
        <p:spPr>
          <a:xfrm>
            <a:off x="9018859" y="6191826"/>
            <a:ext cx="2642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(Adamson, 2010, p. 71)</a:t>
            </a:r>
          </a:p>
        </p:txBody>
      </p:sp>
    </p:spTree>
    <p:extLst>
      <p:ext uri="{BB962C8B-B14F-4D97-AF65-F5344CB8AC3E}">
        <p14:creationId xmlns:p14="http://schemas.microsoft.com/office/powerpoint/2010/main" val="4251075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780DD-BF04-3C4B-85A3-25A16905C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Inmon Corporate Information Factory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6BA354-F48D-5142-6EE0-73C58B2C1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22171"/>
            <a:ext cx="7772400" cy="44342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6AA1EB-DC51-47BA-DF36-52D15191BE5B}"/>
              </a:ext>
            </a:extLst>
          </p:cNvPr>
          <p:cNvSpPr txBox="1"/>
          <p:nvPr/>
        </p:nvSpPr>
        <p:spPr>
          <a:xfrm>
            <a:off x="2209800" y="6291700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(Kimball &amp; Ross, 2013, loc. 972) </a:t>
            </a:r>
          </a:p>
        </p:txBody>
      </p:sp>
    </p:spTree>
    <p:extLst>
      <p:ext uri="{BB962C8B-B14F-4D97-AF65-F5344CB8AC3E}">
        <p14:creationId xmlns:p14="http://schemas.microsoft.com/office/powerpoint/2010/main" val="1093436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21EA-4FA5-A6BB-9C75-C444AE6CE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Kimball DW/BI Architecture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CB60F1-1ADF-53F4-47E2-66022AD0D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90688"/>
            <a:ext cx="7772400" cy="44558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EE644D-B871-AFDC-A7E7-67B73B8AE132}"/>
              </a:ext>
            </a:extLst>
          </p:cNvPr>
          <p:cNvSpPr txBox="1"/>
          <p:nvPr/>
        </p:nvSpPr>
        <p:spPr>
          <a:xfrm>
            <a:off x="2209800" y="6182151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(Kimball &amp; Ross, 2013, loc. 765) </a:t>
            </a:r>
          </a:p>
        </p:txBody>
      </p:sp>
    </p:spTree>
    <p:extLst>
      <p:ext uri="{BB962C8B-B14F-4D97-AF65-F5344CB8AC3E}">
        <p14:creationId xmlns:p14="http://schemas.microsoft.com/office/powerpoint/2010/main" val="930968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E0939B-C970-A939-DBF2-6AFF7CCCA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507"/>
            <a:ext cx="3494362" cy="4930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100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External Considerations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D72F6-915E-DFF3-674B-D09978FAF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0" y="963507"/>
            <a:ext cx="6250940" cy="23046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Upstream</a:t>
            </a:r>
          </a:p>
          <a:p>
            <a:r>
              <a:rPr lang="en-US" sz="2000" dirty="0"/>
              <a:t>Extract coordination</a:t>
            </a:r>
          </a:p>
          <a:p>
            <a:r>
              <a:rPr lang="en-US" sz="2000" dirty="0"/>
              <a:t>Schema mutation</a:t>
            </a:r>
          </a:p>
          <a:p>
            <a:r>
              <a:rPr lang="en-US" sz="2000" dirty="0"/>
              <a:t>Make friends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F27552A-B691-A22F-90A9-73A3864B8A38}"/>
              </a:ext>
            </a:extLst>
          </p:cNvPr>
          <p:cNvSpPr txBox="1">
            <a:spLocks/>
          </p:cNvSpPr>
          <p:nvPr/>
        </p:nvSpPr>
        <p:spPr>
          <a:xfrm>
            <a:off x="4976030" y="3589866"/>
            <a:ext cx="6250940" cy="2304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Downstream</a:t>
            </a:r>
          </a:p>
          <a:p>
            <a:r>
              <a:rPr lang="en-US" sz="2000" dirty="0"/>
              <a:t>Requirements (!!!)</a:t>
            </a:r>
          </a:p>
          <a:p>
            <a:r>
              <a:rPr lang="en-US" sz="2000" dirty="0"/>
              <a:t>Data Quality</a:t>
            </a:r>
          </a:p>
          <a:p>
            <a:r>
              <a:rPr lang="en-US" sz="2000" dirty="0"/>
              <a:t>Anticipate future requirements (History)</a:t>
            </a:r>
          </a:p>
        </p:txBody>
      </p:sp>
    </p:spTree>
    <p:extLst>
      <p:ext uri="{BB962C8B-B14F-4D97-AF65-F5344CB8AC3E}">
        <p14:creationId xmlns:p14="http://schemas.microsoft.com/office/powerpoint/2010/main" val="2572426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94135-8DDD-006C-E486-6AB7AB317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41D50-6310-FA67-356D-A68D3EFBC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Adamson, C. (2010). </a:t>
            </a:r>
            <a:r>
              <a:rPr lang="en-US" i="1" dirty="0"/>
              <a:t>Star schema: The complete reference</a:t>
            </a:r>
            <a:r>
              <a:rPr lang="en-US" dirty="0"/>
              <a:t>. McGraw-Hill.  </a:t>
            </a:r>
          </a:p>
          <a:p>
            <a:r>
              <a:rPr lang="en-US" dirty="0"/>
              <a:t>Kimball, R., &amp; Ross, M. (2013). </a:t>
            </a:r>
            <a:r>
              <a:rPr lang="en-US" i="1" dirty="0"/>
              <a:t>The data warehouse toolkit: The definitive guide to dimensional modeling</a:t>
            </a:r>
            <a:r>
              <a:rPr lang="en-US" dirty="0"/>
              <a:t> (3rd ed.). Wiley. </a:t>
            </a:r>
          </a:p>
          <a:p>
            <a:r>
              <a:rPr lang="en-US" dirty="0"/>
              <a:t>Microsoft. (2025). </a:t>
            </a:r>
            <a:r>
              <a:rPr lang="en-US" i="1" dirty="0"/>
              <a:t>Query processing architecture guide</a:t>
            </a:r>
            <a:r>
              <a:rPr lang="en-US" dirty="0"/>
              <a:t>. Microsoft Learn. </a:t>
            </a:r>
            <a:r>
              <a:rPr lang="en-US" dirty="0">
                <a:hlinkClick r:id="rId2"/>
              </a:rPr>
              <a:t>https://learn.microsoft.com/en-us/sql/relational-databases/query-processing-architecture-guide</a:t>
            </a:r>
            <a:endParaRPr lang="en-US" dirty="0"/>
          </a:p>
          <a:p>
            <a:r>
              <a:rPr lang="en-US" dirty="0"/>
              <a:t>Reis, J., &amp; Housley, M. (2022). </a:t>
            </a:r>
            <a:r>
              <a:rPr lang="en-US" i="1" dirty="0"/>
              <a:t>Fundamentals of data engineering: Plan and build robust data systems</a:t>
            </a:r>
            <a:r>
              <a:rPr lang="en-US" dirty="0"/>
              <a:t>. O'Reilly Media.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422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1116</TotalTime>
  <Words>332</Words>
  <Application>Microsoft Macintosh PowerPoint</Application>
  <PresentationFormat>Widescreen</PresentationFormat>
  <Paragraphs>47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Querying and Data Warehousing BUJ International</vt:lpstr>
      <vt:lpstr>What is a Query</vt:lpstr>
      <vt:lpstr>Life of a Query</vt:lpstr>
      <vt:lpstr>Role of Query Optimizers</vt:lpstr>
      <vt:lpstr>Query Optimization</vt:lpstr>
      <vt:lpstr>Star Schema</vt:lpstr>
      <vt:lpstr>Inmon Corporate Information Factory</vt:lpstr>
      <vt:lpstr>Kimball DW/BI Architecture </vt:lpstr>
      <vt:lpstr>External Considerations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Person</dc:creator>
  <cp:lastModifiedBy>Scott Person</cp:lastModifiedBy>
  <cp:revision>9</cp:revision>
  <dcterms:created xsi:type="dcterms:W3CDTF">2026-02-19T16:41:22Z</dcterms:created>
  <dcterms:modified xsi:type="dcterms:W3CDTF">2026-02-20T17:15:28Z</dcterms:modified>
</cp:coreProperties>
</file>