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962"/>
  </p:normalViewPr>
  <p:slideViewPr>
    <p:cSldViewPr snapToGrid="0">
      <p:cViewPr varScale="1">
        <p:scale>
          <a:sx n="113" d="100"/>
          <a:sy n="113" d="100"/>
        </p:scale>
        <p:origin x="10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3880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600FE-8A80-4E48-8163-9AF6664B625E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AC429-C250-464A-9113-26386D081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2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origin points (source systems) where data is created—databases, IoT devices, applications, etc.                                       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Where data lives throughout the lifecycle, underpinning all other stages and often serving multiple functions beyond just storage.           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Ingestion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Moving data from source systems into your data architecture, either in batches or as continuous streams.                                   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Converting raw data into useful formats by cleaning, standardizing, applying business logic, and restructuring for downstream         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consumption.                                                                                                                                             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Delivering transformed data to end users and systems for analytics, ML, or feeding back into operational systems.                            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                            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AC429-C250-464A-9113-26386D081C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34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AC429-C250-464A-9113-26386D081C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97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2EAD-8936-E051-52B6-CD711F41F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4CE10-1412-A56E-08BA-0520D16CB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D292D-7838-1E13-8486-F1CD2A8A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28D92-F2AA-C736-067E-0A32AA41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72062-129F-E059-B1AC-947454C4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9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08C2-52D3-9591-5F24-37D881D1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65380-C47F-362A-E1CE-0E8B506CF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E2946-11CA-2AF5-8CAE-F00BBED4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C9E93-DA8F-3D08-169B-2413F2BC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52D2B-6942-9880-4DFE-670CDE88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1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C7F3-302E-3A0C-3821-15864915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B3E22-64DF-18B9-93CE-920B32CC0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5EF2E-F71C-00F2-336F-FB7157A74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58E4-7D8D-ED59-1B8F-2B84D572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D0E2D-795B-A863-B352-7AAE678A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5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2D40-F448-EEB7-BBC4-164ABA00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B3113-63CE-FA50-0192-6E73557E9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0C93F-B3DA-1B1D-6B31-0B8A9F25F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D0290-2EAA-29EB-F38D-CAE10268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A7C0C-10EF-108C-A70D-7C6FA99B3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E7C48-69D0-A2A1-E883-B7496694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03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CC9C-032E-461E-8393-E663ABD71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BCE7D-764E-48F3-FD84-18564448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861AE-43D4-E74C-DDE5-038837955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76124-8357-FFCC-1B7E-C97FCA7C2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E519A-FD21-8B4B-3522-148DC27DB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5137F-4A6B-B686-B6AB-D6F9B1E6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78B91-534C-83E0-C1F1-3BC381C0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EAEF6-9AC6-2337-45BA-E565AAAD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47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20CE-3A64-E5A0-5215-B49BDB85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FE85BC-A227-B7CD-F773-2B204D49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55681-7122-48D3-AE8B-0064B4BD6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BF50-920E-71A6-A6DD-956DD2CE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6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650A49-9249-D21F-89BD-D88FEA34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8984B-8A3E-7063-BDC8-82359A60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AA2C8-9E5C-B8B5-3B33-64DB1248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6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8478-807B-EC6E-5711-14581D65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824D-CCA6-A033-A01B-0A103B7A5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634A8-8AA0-84EE-CE33-4AF8A418D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698A4-1D71-4263-152C-23229237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8EDA8-0331-C5A8-1C96-A8FBF382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1649F-FD9F-8906-71E8-25BD4C12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7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FBE58-43BA-BBAF-2ED8-FA2C4319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8BC8F9-98DF-45B7-173E-F14961A27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4BAF1-BBB5-5372-C307-EA5111533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3C6D5-7BCF-4606-F125-CCFB89A1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737D4-105B-68FC-0DD1-85C1C116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482F3-7849-EB21-0768-ACFCEC328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4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776C-B1ED-FCF4-A615-F594D2CF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DDD2C-050B-954F-5E51-0A4B394CA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74762-E171-1F45-235E-873970DC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20FB-3ADA-8FBC-7EFF-4601A719D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9A1E2-ED2A-5F78-51A4-CA80A640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6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F4F56-6EE2-DFB5-D166-F007ED590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8A7B3-9436-B053-B5E2-3DADC280E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C77EE-D3C7-306F-80D4-93DA2175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A920F-C7FF-ED46-5CBC-12595DFD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263EF-18BF-135E-2C4B-BAEFA5A5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56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12605-47CA-5AB0-4989-B58F4677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52EA5-E98C-D96A-79B4-91866D338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88470-BB71-658D-7D81-35D513C69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8FC64F-9E74-EC47-9A99-07BAB1D32835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1C88B-D531-275A-9635-EDC036FAF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E23CE-BCD7-0149-DEC6-ACACCCA18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76AEE-98AD-A348-B378-808A82CA0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9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.oreilly.com/library/view/fundamentals-of-data/9781098108298/ch02.html#components_and_undercurrents_of_the_dat" TargetMode="External"/><Relationship Id="rId2" Type="http://schemas.openxmlformats.org/officeDocument/2006/relationships/hyperlink" Target="https://learning.oreilly.com/library/view/the-data-warehouse/9781118530801/9781118530801c01.xhtml#c01_level1_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4153-9275-234F-B2A4-2FD5B9FE89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Engineering at BUJ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08814-8124-4D2A-BF23-BE490FD116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0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BB7E4-FC1F-AF52-399D-FA234B80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EDB2-AADC-3629-0311-DC17AF3BC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6935"/>
            <a:ext cx="10515600" cy="19831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/>
              <a:t>Data Engineering is the process of taking raw data and constructing a solution ready to meet the requirements of both your organization and your customers.</a:t>
            </a:r>
          </a:p>
        </p:txBody>
      </p:sp>
    </p:spTree>
    <p:extLst>
      <p:ext uri="{BB962C8B-B14F-4D97-AF65-F5344CB8AC3E}">
        <p14:creationId xmlns:p14="http://schemas.microsoft.com/office/powerpoint/2010/main" val="209758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9FD8-4F84-4273-1BB3-E11DB3FA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Engineer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B36C-FD27-4E48-8058-52EC633DE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51"/>
            <a:ext cx="10515600" cy="3160712"/>
          </a:xfrm>
        </p:spPr>
        <p:txBody>
          <a:bodyPr>
            <a:normAutofit/>
          </a:bodyPr>
          <a:lstStyle/>
          <a:p>
            <a:r>
              <a:rPr lang="en-US" dirty="0"/>
              <a:t>You’re a data company – data is your primary asset</a:t>
            </a:r>
          </a:p>
          <a:p>
            <a:r>
              <a:rPr lang="en-US" dirty="0"/>
              <a:t>Ensure that this primary asset is well managed and available – </a:t>
            </a:r>
            <a:r>
              <a:rPr lang="en-US" b="1" u="sng" dirty="0"/>
              <a:t>To the whole organization</a:t>
            </a:r>
            <a:endParaRPr lang="en-US" dirty="0"/>
          </a:p>
          <a:p>
            <a:r>
              <a:rPr lang="en-US" dirty="0"/>
              <a:t>Warning – Even strong data science and analytics groups eventually fail without intentional data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4EFDB-AEB1-B4EA-D9CB-AE30475EC4DB}"/>
              </a:ext>
            </a:extLst>
          </p:cNvPr>
          <p:cNvSpPr txBox="1"/>
          <p:nvPr/>
        </p:nvSpPr>
        <p:spPr>
          <a:xfrm>
            <a:off x="4008328" y="1845063"/>
            <a:ext cx="7345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“One of the most important assets of any organization is its information” </a:t>
            </a:r>
          </a:p>
          <a:p>
            <a:r>
              <a:rPr lang="en-US" dirty="0"/>
              <a:t>(Kimball &amp; Ross, 2013, Chapter 1).</a:t>
            </a:r>
          </a:p>
        </p:txBody>
      </p:sp>
    </p:spTree>
    <p:extLst>
      <p:ext uri="{BB962C8B-B14F-4D97-AF65-F5344CB8AC3E}">
        <p14:creationId xmlns:p14="http://schemas.microsoft.com/office/powerpoint/2010/main" val="188644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2F0A-2753-ECAA-5723-28099BCC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Data Science/Analytics without Data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CC6F1-A514-DB34-8DB2-19B72434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It’s impossible</a:t>
            </a:r>
          </a:p>
          <a:p>
            <a:r>
              <a:rPr lang="en-US" dirty="0"/>
              <a:t>Someone is doing it somewhere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240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3EF7-F235-3A2D-3882-D681A28B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Engineering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55E46-73C0-0551-DB79-C9D847A14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978" y="5985164"/>
            <a:ext cx="3812822" cy="50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(Reis &amp; Housley, 2022)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D9260-69BC-32B9-57E4-A50CC830D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44" y="1332511"/>
            <a:ext cx="9476509" cy="446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52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9DA-3112-3AC5-FC75-B1F6E1AF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Story – Previous 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930E1-3329-F788-8894-36AF65C1D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3000 source databases on SQL Server</a:t>
            </a:r>
          </a:p>
          <a:p>
            <a:r>
              <a:rPr lang="en-US" dirty="0"/>
              <a:t>Requirement – run analytics and data science across all of those databases; sell customers their own data</a:t>
            </a:r>
          </a:p>
          <a:p>
            <a:r>
              <a:rPr lang="en-US" dirty="0"/>
              <a:t>Solution –union of all sources into a single multi-tenant Snowflake database</a:t>
            </a:r>
          </a:p>
          <a:p>
            <a:r>
              <a:rPr lang="en-US" dirty="0"/>
              <a:t>Outcome – $500K annual cost with $2M and growing annual revenue; near zero marginal cost </a:t>
            </a:r>
          </a:p>
        </p:txBody>
      </p:sp>
    </p:spTree>
    <p:extLst>
      <p:ext uri="{BB962C8B-B14F-4D97-AF65-F5344CB8AC3E}">
        <p14:creationId xmlns:p14="http://schemas.microsoft.com/office/powerpoint/2010/main" val="372062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C2F4-AD75-8021-7E7E-CC8105DA8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BF57B-00C1-A3A0-7ADB-BE1E04DE2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Kimball, R., &amp; Ross, M. (2013). </a:t>
            </a:r>
            <a:r>
              <a:rPr lang="en-US" i="1" dirty="0"/>
              <a:t>The data warehouse toolkit: The definitive guide to dimensional modeling</a:t>
            </a:r>
            <a:r>
              <a:rPr lang="en-US" dirty="0"/>
              <a:t> (3rd ed.). Wiley. </a:t>
            </a:r>
            <a:r>
              <a:rPr lang="en-US" dirty="0">
                <a:hlinkClick r:id="rId2"/>
              </a:rPr>
              <a:t>https://learning.oreilly.com/library/view/the-data-warehouse/9781118530801/9781118530801c01.xhtml#c01_level1_1</a:t>
            </a:r>
            <a:endParaRPr lang="en-US" dirty="0"/>
          </a:p>
          <a:p>
            <a:r>
              <a:rPr lang="en-US" dirty="0"/>
              <a:t>Reis, J., &amp; Housley, M. (2022). </a:t>
            </a:r>
            <a:r>
              <a:rPr lang="en-US" i="1" dirty="0"/>
              <a:t>Fundamentals of data engineering</a:t>
            </a:r>
            <a:r>
              <a:rPr lang="en-US" dirty="0"/>
              <a:t>. O'Reilly Media. </a:t>
            </a:r>
            <a:r>
              <a:rPr lang="en-US" dirty="0">
                <a:hlinkClick r:id="rId3"/>
              </a:rPr>
              <a:t>https://learning.oreilly.com/library/view/fundamentals-of-data/9781098108298/ch02.html#components_and_undercurrents_of_the_dat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3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417</Words>
  <Application>Microsoft Macintosh PowerPoint</Application>
  <PresentationFormat>Widescreen</PresentationFormat>
  <Paragraphs>31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Data Engineering at BUJ</vt:lpstr>
      <vt:lpstr>What is Data Engineering?</vt:lpstr>
      <vt:lpstr>Why Engineer Data?</vt:lpstr>
      <vt:lpstr>Data Science/Analytics without Data Engineering</vt:lpstr>
      <vt:lpstr>Data Engineering Lifecycle</vt:lpstr>
      <vt:lpstr>Success Story – Previous Customer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Person</dc:creator>
  <cp:lastModifiedBy>Scott Person</cp:lastModifiedBy>
  <cp:revision>9</cp:revision>
  <dcterms:created xsi:type="dcterms:W3CDTF">2026-01-31T20:48:44Z</dcterms:created>
  <dcterms:modified xsi:type="dcterms:W3CDTF">2026-02-01T22:41:49Z</dcterms:modified>
</cp:coreProperties>
</file>